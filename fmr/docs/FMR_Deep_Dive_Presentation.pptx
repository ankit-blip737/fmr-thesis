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4400">
                <a:solidFill>
                  <a:srgbClr val="0F172A"/>
                </a:solidFill>
              </a:defRPr>
            </a:pPr>
            <a:r>
              <a:t>Faithful Medical Reasoning (FMR)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334155"/>
                </a:solidFill>
              </a:defRPr>
            </a:pPr>
            <a:r>
              <a:t>A Deep-Dive into the Safety Auditor for Medical AI</a:t>
            </a:r>
            <a:br/>
            <a:r>
              <a:t>Ankit Kumar · B.Tech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931920"/>
            <a:ext cx="1828800" cy="457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F172A"/>
                </a:solidFill>
              </a:defRPr>
            </a:pPr>
            <a:r>
              <a:t>Module 1: The Clinical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0F172A"/>
                </a:solidFill>
              </a:defRPr>
            </a:pPr>
            <a:r>
              <a:t>Why Does This Project Exist?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Doctors are overwhelmed, and AI tools are being built to read X-rays and answer clinical questions automatically.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The Danger: AI sometimes lies confidently (Hallucination). Worse, it might give the right answer for the wrong reason (guessing from text, not the image).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Our Solution: We built a safety auditor that watches the AI think and pulls the emergency brake if it's not trustworthy.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236726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1800">
                <a:solidFill>
                  <a:srgbClr val="0F172A"/>
                </a:solidFill>
              </a:defRPr>
            </a:pPr>
            <a:r>
              <a:t>The Novel Contribution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We measure 'grounding decay' step-by-step, fuse multiple faithfulness signals, and gate the output with a distribution-free safety guarantee.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F172A"/>
                </a:solidFill>
              </a:defRPr>
            </a:pPr>
            <a:r>
              <a:t>Module 2: Key Terminology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29868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1800">
                <a:solidFill>
                  <a:srgbClr val="0F172A"/>
                </a:solidFill>
              </a:defRPr>
            </a:pPr>
            <a:r>
              <a:t>Vision-Language Model (VLM)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An AI (like MedVLM-R1) that can look at an image AND read text, generating an answer token-by-token. We use one that reasons step-by-step.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84348"/>
            <a:ext cx="8229600" cy="1225295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1800">
                <a:solidFill>
                  <a:srgbClr val="0F172A"/>
                </a:solidFill>
              </a:defRPr>
            </a:pPr>
            <a:r>
              <a:t>Grounding vs. Hallucination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Grounding means the AI's answer is based directly on the image pixels. Hallucination means the AI makes up an answer from text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92524"/>
            <a:ext cx="8229600" cy="1227582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1800">
                <a:solidFill>
                  <a:srgbClr val="0F172A"/>
                </a:solidFill>
              </a:defRPr>
            </a:pPr>
            <a:r>
              <a:t>Grounding Decay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Our central hypothesis: As a VLM generates more reasoning steps (longer chain-of-thought), it progressively 'forgets' the original image.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F172A"/>
                </a:solidFill>
              </a:defRPr>
            </a:pPr>
            <a:r>
              <a:t>Module 3: Mock vs. Real Datasets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0F172A"/>
                </a:solidFill>
              </a:defRPr>
            </a:pPr>
            <a:r>
              <a:t>Why Two Types of Data?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Mock (Synthetic): 300 computer-generated images. We control the ground truth and bounding boxes. Used to PROVE our mathematical formulas work.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Real Datasets (VQA-RAD, PathVQA, SLAKE): Real X-rays and pathology slides. Used to PROVE the system applies to real hospital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122301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1800">
                <a:solidFill>
                  <a:srgbClr val="0F172A"/>
                </a:solidFill>
              </a:defRPr>
            </a:pPr>
            <a:r>
              <a:t>The Bounding Box Limitation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Real datasets lack bounding boxes for diseases. Our Mock dataset provides them, allowing us to fully test Signal B (Spatial Grounding).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F172A"/>
                </a:solidFill>
              </a:defRPr>
            </a:pPr>
            <a:r>
              <a:t>Module 4: The 5-Stage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0F172A"/>
                </a:solidFill>
              </a:defRPr>
            </a:pPr>
            <a:r>
              <a:t>How the System Processes Data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Stage 1: Baselines — Establishes raw accuracy of models (usually ~25% on real data).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Stage 2: Blind Test — Feeds blank images to expose hallucination (the 'Blind Gap').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Stage 3: FMR Score — Computes trustworthiness (Signals A, B, C).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Stage 4: Conformal Gate — Calculates the safety threshold for Answer/Abstain.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Stage 5: Correction — Uses MedGemma as a second opinion (Future Work).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F172A"/>
                </a:solidFill>
              </a:defRPr>
            </a:pPr>
            <a:r>
              <a:t>Module 4: The Faithfulness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04722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1800">
                <a:solidFill>
                  <a:srgbClr val="0F172A"/>
                </a:solidFill>
              </a:defRPr>
            </a:pPr>
            <a:r>
              <a:t>Signal A (Counterfactual / Image Reliance)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Show the model the real image, a blank image, and a mismatched image. If the answer changes, it relies on the image (Faithful).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59202"/>
            <a:ext cx="8229600" cy="1170432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1800">
                <a:solidFill>
                  <a:srgbClr val="0F172A"/>
                </a:solidFill>
              </a:defRPr>
            </a:pPr>
            <a:r>
              <a:t>Signal B (Attention / Spatial Grounding)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Extract the model's internal attention heatmaps. Measure the overlap (IoU) with the actual disease bounding 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2514"/>
            <a:ext cx="8229600" cy="1193292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1800">
                <a:solidFill>
                  <a:srgbClr val="0F172A"/>
                </a:solidFill>
              </a:defRPr>
            </a:pPr>
            <a:r>
              <a:t>Signal C (Consistency / Answer Stability)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Ask the exact same question 5 times with slight temperature randomness. A faithful model gives the same answer every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868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0F172A"/>
                </a:solidFill>
              </a:defRPr>
            </a:pPr>
            <a:r>
              <a:t>Fusion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FS = (w_A * A) + (w_B * B) + (w_C * 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F172A"/>
                </a:solidFill>
              </a:defRPr>
            </a:pPr>
            <a:r>
              <a:t>Module 7: Key Mathematical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0F172A"/>
                </a:solidFill>
              </a:defRPr>
            </a:pPr>
            <a:r>
              <a:t>The Math Behind the Safety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AUROC: Measures how well our FS score separates correct answers from incorrect ones. Perfect = 1.0.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AURC (Risk-Coverage): As we answer more cases (Coverage), how does the error rate (Risk) grow? Lower is better.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1332738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1800">
                <a:solidFill>
                  <a:srgbClr val="0F172A"/>
                </a:solidFill>
              </a:defRPr>
            </a:pPr>
            <a:r>
              <a:t>Conformal Prediction (α, δ, τ)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α (Alpha) = Max tolerated error (e.g., 15%).</a:t>
            </a:r>
            <a:br/>
            <a:r>
              <a:t>δ (Delta) = Max chance the guarantee fails (e.g., 5%).</a:t>
            </a:r>
            <a:br/>
            <a:r>
              <a:t>τ (Tau) = The calculated FS threshold. If FS ≥ τ, we ANSWER. If FS &lt; τ, we ABSTAIN.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F172A"/>
                </a:solidFill>
              </a:defRPr>
            </a:pPr>
            <a:r>
              <a:t>Module 8: The End-to-End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0F172A"/>
                </a:solidFill>
              </a:defRPr>
            </a:pPr>
            <a:r>
              <a:t>Putting It All Together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1. Load medical images and questions.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2. Run model to get answers and blind-test results.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3. Compute Signals A, B, and C (5 passes = heavy GPU lifting).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4. Fuse signals into the FS score.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5. Split data into Calibration and Test sets.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6. Find conformal threshold τ on calibration data.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7. Output ANSWER or ABSTAIN for test data based on τ.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F172A"/>
                </a:solidFill>
              </a:defRPr>
            </a:pPr>
            <a:r>
              <a:t>Module 5: The Interactive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0F172A"/>
                </a:solidFill>
              </a:defRPr>
            </a:pPr>
            <a:r>
              <a:t>Visualizing the Pipeline Outputs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Overview: High-level metrics, Baseline accuracy, and Replication verdicts.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Diagnosis: Per-Step Grounding curves showing actual Grounding Decay.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Measurement: AUROC and Risk-Coverage charts.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Robustness: Ablation studies (Noise, Crop, Blur) proving the score works.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Case Explorer: Searchable database of every single AI thought process.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0F172A"/>
                </a:solidFill>
              </a:defRPr>
            </a:pPr>
            <a:r>
              <a:t>Module 10: The Thesis Argument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>
                <a:solidFill>
                  <a:srgbClr val="0F172A"/>
                </a:solidFill>
              </a:defRPr>
            </a:pPr>
            <a:r>
              <a:t>What We Proved to the Committee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1. Medical VLMs hallucinate (Proven by the Blind Test).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2. Chain-of-thought doesn't fix it (Proven by Grounding Decay curves).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3. We can detect it (Proven by high AUROC of our 3-signal FMR score).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4. We can prevent it (Proven by the Conformal Abstention safety gate).</a:t>
            </a:r>
          </a:p>
          <a:p>
            <a:pPr>
              <a:defRPr sz="1600">
                <a:solidFill>
                  <a:srgbClr val="334155"/>
                </a:solidFill>
              </a:defRPr>
            </a:pPr>
            <a:r>
              <a:t>• 5. It works on real medical data (Proven on VQA-RAD, PathVQA, and SLAKE).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172718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</a:p>
          <a:p>
            <a:pPr>
              <a:defRPr b="1" sz="1800">
                <a:solidFill>
                  <a:srgbClr val="0F172A"/>
                </a:solidFill>
              </a:defRPr>
            </a:pPr>
            <a:r>
              <a:t>Conclusion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We built a rigorous, mathematically guaranteed safety auditor that is exactly what the medical AI industry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